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3" r:id="rId2"/>
  </p:sldMasterIdLst>
  <p:notesMasterIdLst>
    <p:notesMasterId r:id="rId19"/>
  </p:notesMasterIdLst>
  <p:handoutMasterIdLst>
    <p:handoutMasterId r:id="rId20"/>
  </p:handoutMasterIdLst>
  <p:sldIdLst>
    <p:sldId id="256" r:id="rId3"/>
    <p:sldId id="276" r:id="rId4"/>
    <p:sldId id="278" r:id="rId5"/>
    <p:sldId id="257" r:id="rId6"/>
    <p:sldId id="258" r:id="rId7"/>
    <p:sldId id="259" r:id="rId8"/>
    <p:sldId id="260" r:id="rId9"/>
    <p:sldId id="262" r:id="rId10"/>
    <p:sldId id="270" r:id="rId11"/>
    <p:sldId id="271" r:id="rId12"/>
    <p:sldId id="264" r:id="rId13"/>
    <p:sldId id="281" r:id="rId14"/>
    <p:sldId id="282" r:id="rId15"/>
    <p:sldId id="266" r:id="rId16"/>
    <p:sldId id="279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7FB"/>
    <a:srgbClr val="1A3C5E"/>
    <a:srgbClr val="BB278A"/>
    <a:srgbClr val="C9C119"/>
    <a:srgbClr val="17CB86"/>
    <a:srgbClr val="267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CE098-FE88-C506-F912-200D5210D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A76F2-816D-54EA-3C7E-48C95B7DA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43B82-323C-A7E8-AB87-43D8CA4DA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2A8D6-C94D-17AD-A38E-421B936C34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63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8CB0-5D04-852B-8C01-F8D9B1B24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98C8A-4660-B510-8797-ED7B5A992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16390-2265-4C28-BEAD-516794A04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FA49D-4457-15DA-D05A-17B184F69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66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4843463"/>
            <a:ext cx="1076628" cy="257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4843463"/>
            <a:ext cx="1076628" cy="257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4843463"/>
            <a:ext cx="1076628" cy="2571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11930" y="5943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28111" y="493815"/>
            <a:ext cx="4691633" cy="20104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ea typeface="Inter Bold" pitchFamily="34" charset="-122"/>
                <a:cs typeface="Times New Roman" panose="02020603050405020304" charset="0"/>
                <a:sym typeface="+mn-ea"/>
              </a:rPr>
              <a:t>QR-Code–based Swing Machine Tracking System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en-US" sz="3600" dirty="0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73500" y="3526208"/>
            <a:ext cx="54864" cy="88358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11930" y="3448360"/>
            <a:ext cx="29361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Concord Apparel (Pvt) Ltd</a:t>
            </a:r>
          </a:p>
        </p:txBody>
      </p:sp>
      <p:sp>
        <p:nvSpPr>
          <p:cNvPr id="10" name="Text 8"/>
          <p:cNvSpPr/>
          <p:nvPr/>
        </p:nvSpPr>
        <p:spPr>
          <a:xfrm>
            <a:off x="4011930" y="3788212"/>
            <a:ext cx="29361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EAD Group Project - Group B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| Faculty of Technology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11930" y="4164132"/>
            <a:ext cx="27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20/04/2026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Box 64"/>
          <p:cNvSpPr txBox="1"/>
          <p:nvPr/>
        </p:nvSpPr>
        <p:spPr>
          <a:xfrm>
            <a:off x="182919" y="2237594"/>
            <a:ext cx="2301082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Team Members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45E31D-C60D-4212-2294-5BB5FC92EBCA}"/>
              </a:ext>
            </a:extLst>
          </p:cNvPr>
          <p:cNvGrpSpPr/>
          <p:nvPr/>
        </p:nvGrpSpPr>
        <p:grpSpPr>
          <a:xfrm>
            <a:off x="2761478" y="223685"/>
            <a:ext cx="6368362" cy="4663109"/>
            <a:chOff x="2761478" y="223685"/>
            <a:chExt cx="6368362" cy="4663109"/>
          </a:xfrm>
        </p:grpSpPr>
        <p:sp>
          <p:nvSpPr>
            <p:cNvPr id="5" name="Text 1"/>
            <p:cNvSpPr/>
            <p:nvPr/>
          </p:nvSpPr>
          <p:spPr>
            <a:xfrm>
              <a:off x="2761478" y="1336241"/>
              <a:ext cx="1224924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Nirmalie Perera</a:t>
              </a:r>
            </a:p>
          </p:txBody>
        </p:sp>
        <p:sp>
          <p:nvSpPr>
            <p:cNvPr id="6" name="Text 2"/>
            <p:cNvSpPr/>
            <p:nvPr/>
          </p:nvSpPr>
          <p:spPr>
            <a:xfrm>
              <a:off x="2761478" y="1507269"/>
              <a:ext cx="914788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Leader, BSIT221001</a:t>
              </a:r>
            </a:p>
          </p:txBody>
        </p:sp>
        <p:sp>
          <p:nvSpPr>
            <p:cNvPr id="7" name="Text 3"/>
            <p:cNvSpPr/>
            <p:nvPr/>
          </p:nvSpPr>
          <p:spPr>
            <a:xfrm>
              <a:off x="4442372" y="1336241"/>
              <a:ext cx="1224924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Buddika Prabath</a:t>
              </a:r>
            </a:p>
          </p:txBody>
        </p:sp>
        <p:sp>
          <p:nvSpPr>
            <p:cNvPr id="8" name="Text 4"/>
            <p:cNvSpPr/>
            <p:nvPr/>
          </p:nvSpPr>
          <p:spPr>
            <a:xfrm>
              <a:off x="4442372" y="1507269"/>
              <a:ext cx="914788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BSIT221027</a:t>
              </a:r>
            </a:p>
          </p:txBody>
        </p:sp>
        <p:sp>
          <p:nvSpPr>
            <p:cNvPr id="13" name="Text 7"/>
            <p:cNvSpPr/>
            <p:nvPr/>
          </p:nvSpPr>
          <p:spPr>
            <a:xfrm>
              <a:off x="7782424" y="1336241"/>
              <a:ext cx="1113567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Imal Udyog</a:t>
              </a:r>
            </a:p>
          </p:txBody>
        </p:sp>
        <p:sp>
          <p:nvSpPr>
            <p:cNvPr id="14" name="Text 8"/>
            <p:cNvSpPr/>
            <p:nvPr/>
          </p:nvSpPr>
          <p:spPr>
            <a:xfrm>
              <a:off x="7782424" y="1507269"/>
              <a:ext cx="914827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BSIT221025</a:t>
              </a:r>
            </a:p>
          </p:txBody>
        </p:sp>
        <p:sp>
          <p:nvSpPr>
            <p:cNvPr id="16" name="Text 9"/>
            <p:cNvSpPr/>
            <p:nvPr/>
          </p:nvSpPr>
          <p:spPr>
            <a:xfrm>
              <a:off x="2761478" y="4546276"/>
              <a:ext cx="1347416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Nuwan Seneviratna</a:t>
              </a:r>
            </a:p>
          </p:txBody>
        </p:sp>
        <p:sp>
          <p:nvSpPr>
            <p:cNvPr id="17" name="Text 10"/>
            <p:cNvSpPr/>
            <p:nvPr/>
          </p:nvSpPr>
          <p:spPr>
            <a:xfrm>
              <a:off x="2761478" y="4734989"/>
              <a:ext cx="1782663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BSIT221016</a:t>
              </a:r>
            </a:p>
          </p:txBody>
        </p:sp>
        <p:sp>
          <p:nvSpPr>
            <p:cNvPr id="28" name="Text 17"/>
            <p:cNvSpPr/>
            <p:nvPr/>
          </p:nvSpPr>
          <p:spPr>
            <a:xfrm>
              <a:off x="4442372" y="4546276"/>
              <a:ext cx="1347416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Rayani Fernando</a:t>
              </a:r>
            </a:p>
          </p:txBody>
        </p:sp>
        <p:sp>
          <p:nvSpPr>
            <p:cNvPr id="29" name="Text 18"/>
            <p:cNvSpPr/>
            <p:nvPr/>
          </p:nvSpPr>
          <p:spPr>
            <a:xfrm>
              <a:off x="4442372" y="4734989"/>
              <a:ext cx="1782663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BSIT221008</a:t>
              </a:r>
            </a:p>
          </p:txBody>
        </p:sp>
        <p:sp>
          <p:nvSpPr>
            <p:cNvPr id="34" name="Text 21"/>
            <p:cNvSpPr/>
            <p:nvPr/>
          </p:nvSpPr>
          <p:spPr>
            <a:xfrm>
              <a:off x="6050352" y="4546276"/>
              <a:ext cx="1347416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Nimna Devindi</a:t>
              </a:r>
            </a:p>
          </p:txBody>
        </p:sp>
        <p:sp>
          <p:nvSpPr>
            <p:cNvPr id="35" name="Text 22"/>
            <p:cNvSpPr/>
            <p:nvPr/>
          </p:nvSpPr>
          <p:spPr>
            <a:xfrm>
              <a:off x="6050352" y="4734989"/>
              <a:ext cx="1782663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BSIT221006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rcRect l="18420" t="16001" r="21067" b="37176"/>
            <a:stretch>
              <a:fillRect/>
            </a:stretch>
          </p:blipFill>
          <p:spPr>
            <a:xfrm>
              <a:off x="4442372" y="223685"/>
              <a:ext cx="875769" cy="1012533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50352" y="3484947"/>
              <a:ext cx="839469" cy="1037528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1478" y="223685"/>
              <a:ext cx="869364" cy="1057867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82424" y="223685"/>
              <a:ext cx="844452" cy="1085724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1478" y="3484947"/>
              <a:ext cx="883952" cy="1034198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42372" y="3484947"/>
              <a:ext cx="776784" cy="998454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19" name="Text 11"/>
            <p:cNvSpPr/>
            <p:nvPr/>
          </p:nvSpPr>
          <p:spPr>
            <a:xfrm>
              <a:off x="7782424" y="2969673"/>
              <a:ext cx="1347416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Kavindu Pansilu</a:t>
              </a:r>
            </a:p>
          </p:txBody>
        </p:sp>
        <p:sp>
          <p:nvSpPr>
            <p:cNvPr id="20" name="Text 12"/>
            <p:cNvSpPr/>
            <p:nvPr/>
          </p:nvSpPr>
          <p:spPr>
            <a:xfrm>
              <a:off x="7782424" y="3145618"/>
              <a:ext cx="1217583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BSIT221002</a:t>
              </a:r>
            </a:p>
          </p:txBody>
        </p:sp>
        <p:sp>
          <p:nvSpPr>
            <p:cNvPr id="25" name="Text 15"/>
            <p:cNvSpPr/>
            <p:nvPr/>
          </p:nvSpPr>
          <p:spPr>
            <a:xfrm>
              <a:off x="6050352" y="2969673"/>
              <a:ext cx="1347416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Rashmi Fernando</a:t>
              </a:r>
            </a:p>
          </p:txBody>
        </p:sp>
        <p:sp>
          <p:nvSpPr>
            <p:cNvPr id="26" name="Text 16"/>
            <p:cNvSpPr/>
            <p:nvPr/>
          </p:nvSpPr>
          <p:spPr>
            <a:xfrm>
              <a:off x="6050352" y="3145618"/>
              <a:ext cx="1782738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BSIT221011</a:t>
              </a:r>
            </a:p>
          </p:txBody>
        </p:sp>
        <p:sp>
          <p:nvSpPr>
            <p:cNvPr id="31" name="Text 19"/>
            <p:cNvSpPr/>
            <p:nvPr/>
          </p:nvSpPr>
          <p:spPr>
            <a:xfrm>
              <a:off x="4442372" y="2969673"/>
              <a:ext cx="1347416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Malki Perera</a:t>
              </a:r>
            </a:p>
          </p:txBody>
        </p:sp>
        <p:sp>
          <p:nvSpPr>
            <p:cNvPr id="32" name="Text 20"/>
            <p:cNvSpPr/>
            <p:nvPr/>
          </p:nvSpPr>
          <p:spPr>
            <a:xfrm>
              <a:off x="4442372" y="3145618"/>
              <a:ext cx="1782663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BSIT221013</a:t>
              </a:r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F88F3D92-360A-CFCB-E838-3AA93685E2B0}"/>
                </a:ext>
              </a:extLst>
            </p:cNvPr>
            <p:cNvSpPr/>
            <p:nvPr/>
          </p:nvSpPr>
          <p:spPr>
            <a:xfrm>
              <a:off x="2761478" y="2969673"/>
              <a:ext cx="1282087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Prasansa Nawanjalee</a:t>
              </a:r>
            </a:p>
          </p:txBody>
        </p:sp>
        <p:sp>
          <p:nvSpPr>
            <p:cNvPr id="30" name="Text 6">
              <a:extLst>
                <a:ext uri="{FF2B5EF4-FFF2-40B4-BE49-F238E27FC236}">
                  <a16:creationId xmlns:a16="http://schemas.microsoft.com/office/drawing/2014/main" id="{B81FAA03-FB3F-0AFA-91DE-A46BD6B53885}"/>
                </a:ext>
              </a:extLst>
            </p:cNvPr>
            <p:cNvSpPr/>
            <p:nvPr/>
          </p:nvSpPr>
          <p:spPr>
            <a:xfrm>
              <a:off x="2761478" y="3145618"/>
              <a:ext cx="914788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BSIT221015</a:t>
              </a:r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50352" y="1920867"/>
              <a:ext cx="817300" cy="1027282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42372" y="1918991"/>
              <a:ext cx="838883" cy="1029158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1"/>
            <a:srcRect l="23640" t="27654" r="27893" b="34440"/>
            <a:stretch>
              <a:fillRect/>
            </a:stretch>
          </p:blipFill>
          <p:spPr>
            <a:xfrm>
              <a:off x="7782424" y="1920867"/>
              <a:ext cx="906783" cy="1027282"/>
            </a:xfrm>
            <a:prstGeom prst="ellipse">
              <a:avLst/>
            </a:prstGeom>
            <a:ln w="9525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DF7768F-2A02-8BFE-3015-9D678B1E3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61478" y="1870253"/>
              <a:ext cx="901600" cy="1077896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4572E2AD-B28D-1AD0-49A7-18F38970131C}"/>
                </a:ext>
              </a:extLst>
            </p:cNvPr>
            <p:cNvSpPr/>
            <p:nvPr/>
          </p:nvSpPr>
          <p:spPr>
            <a:xfrm>
              <a:off x="6050352" y="1336241"/>
              <a:ext cx="1347416" cy="168399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030" b="1" dirty="0">
                  <a:solidFill>
                    <a:srgbClr val="272525"/>
                  </a:solidFill>
                  <a:latin typeface="Times New Roman" panose="02020603050405020304" charset="0"/>
                  <a:ea typeface="Inter Bold" pitchFamily="34" charset="-122"/>
                  <a:cs typeface="Times New Roman" panose="02020603050405020304" charset="0"/>
                </a:rPr>
                <a:t>Tharushi Fernando</a:t>
              </a:r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F0935057-0272-992C-6C6B-D45B00F7E512}"/>
                </a:ext>
              </a:extLst>
            </p:cNvPr>
            <p:cNvSpPr/>
            <p:nvPr/>
          </p:nvSpPr>
          <p:spPr>
            <a:xfrm>
              <a:off x="6050352" y="1507269"/>
              <a:ext cx="1106894" cy="151805"/>
            </a:xfrm>
            <a:prstGeom prst="rect">
              <a:avLst/>
            </a:prstGeom>
            <a:noFill/>
          </p:spPr>
          <p:txBody>
            <a:bodyPr wrap="none" lIns="0" tIns="0" rIns="0" bIns="0" rtlCol="0" anchor="b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845" dirty="0">
                  <a:solidFill>
                    <a:srgbClr val="272525"/>
                  </a:solidFill>
                  <a:latin typeface="Times New Roman" panose="02020603050405020304" charset="0"/>
                  <a:ea typeface="Inter" panose="02000503000000020004" pitchFamily="34" charset="-122"/>
                  <a:cs typeface="Times New Roman" panose="02020603050405020304" charset="0"/>
                </a:rPr>
                <a:t>BSIT221003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3FE8B42-EE1C-98B6-19A7-90415CD65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22851" t="21519" r="21723" b="34909"/>
            <a:stretch>
              <a:fillRect/>
            </a:stretch>
          </p:blipFill>
          <p:spPr>
            <a:xfrm>
              <a:off x="6050352" y="223685"/>
              <a:ext cx="912181" cy="1037537"/>
            </a:xfrm>
            <a:prstGeom prst="ellipse">
              <a:avLst/>
            </a:prstGeom>
            <a:ln w="6350" cap="rnd">
              <a:solidFill>
                <a:srgbClr val="333333"/>
              </a:solidFill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650" y="1966595"/>
            <a:ext cx="3281045" cy="9798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Table of Content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834640" y="514350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34640" y="514350"/>
            <a:ext cx="566928" cy="749808"/>
          </a:xfrm>
          <a:prstGeom prst="rect">
            <a:avLst/>
          </a:prstGeom>
          <a:solidFill>
            <a:srgbClr val="26718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514350"/>
            <a:ext cx="5669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</a:p>
        </p:txBody>
      </p:sp>
      <p:sp>
        <p:nvSpPr>
          <p:cNvPr id="15" name="Text 13"/>
          <p:cNvSpPr/>
          <p:nvPr/>
        </p:nvSpPr>
        <p:spPr>
          <a:xfrm>
            <a:off x="3584448" y="514350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17" name="Shape 15"/>
          <p:cNvSpPr/>
          <p:nvPr/>
        </p:nvSpPr>
        <p:spPr>
          <a:xfrm>
            <a:off x="5989320" y="889254"/>
            <a:ext cx="237744" cy="0"/>
          </a:xfrm>
          <a:prstGeom prst="line">
            <a:avLst/>
          </a:prstGeom>
          <a:noFill/>
          <a:ln w="12700">
            <a:solidFill>
              <a:srgbClr val="D0E4F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834640" y="1355598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34640" y="1355598"/>
            <a:ext cx="566928" cy="749808"/>
          </a:xfrm>
          <a:prstGeom prst="rect">
            <a:avLst/>
          </a:prstGeom>
          <a:solidFill>
            <a:srgbClr val="26718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1355598"/>
            <a:ext cx="5669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93008" y="1355598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Problem Statement</a:t>
            </a:r>
          </a:p>
        </p:txBody>
      </p:sp>
      <p:sp>
        <p:nvSpPr>
          <p:cNvPr id="24" name="Shape 22"/>
          <p:cNvSpPr/>
          <p:nvPr/>
        </p:nvSpPr>
        <p:spPr>
          <a:xfrm>
            <a:off x="5989320" y="1730502"/>
            <a:ext cx="237744" cy="0"/>
          </a:xfrm>
          <a:prstGeom prst="line">
            <a:avLst/>
          </a:prstGeom>
          <a:noFill/>
          <a:ln w="12700">
            <a:solidFill>
              <a:srgbClr val="D0E4F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834640" y="2196846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834640" y="2196846"/>
            <a:ext cx="566928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2196846"/>
            <a:ext cx="566928" cy="749808"/>
          </a:xfrm>
          <a:prstGeom prst="rect">
            <a:avLst/>
          </a:prstGeom>
          <a:solidFill>
            <a:srgbClr val="26718A"/>
          </a:solidFill>
          <a:ln>
            <a:solidFill>
              <a:srgbClr val="26718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</a:p>
        </p:txBody>
      </p:sp>
      <p:sp>
        <p:nvSpPr>
          <p:cNvPr id="29" name="Text 27"/>
          <p:cNvSpPr/>
          <p:nvPr/>
        </p:nvSpPr>
        <p:spPr>
          <a:xfrm>
            <a:off x="3493008" y="2196846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Proposed Solution</a:t>
            </a:r>
          </a:p>
        </p:txBody>
      </p:sp>
      <p:sp>
        <p:nvSpPr>
          <p:cNvPr id="31" name="Shape 29"/>
          <p:cNvSpPr/>
          <p:nvPr/>
        </p:nvSpPr>
        <p:spPr>
          <a:xfrm>
            <a:off x="5989320" y="2571750"/>
            <a:ext cx="237744" cy="0"/>
          </a:xfrm>
          <a:prstGeom prst="line">
            <a:avLst/>
          </a:prstGeom>
          <a:noFill/>
          <a:ln w="12700">
            <a:solidFill>
              <a:srgbClr val="D0E4F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834640" y="3038094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834640" y="3038094"/>
            <a:ext cx="566928" cy="749808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038094"/>
            <a:ext cx="566928" cy="749808"/>
          </a:xfrm>
          <a:prstGeom prst="rect">
            <a:avLst/>
          </a:prstGeom>
          <a:solidFill>
            <a:srgbClr val="26718A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</a:p>
        </p:txBody>
      </p:sp>
      <p:sp>
        <p:nvSpPr>
          <p:cNvPr id="36" name="Text 34"/>
          <p:cNvSpPr/>
          <p:nvPr/>
        </p:nvSpPr>
        <p:spPr>
          <a:xfrm>
            <a:off x="3493008" y="3038094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System Design</a:t>
            </a:r>
          </a:p>
        </p:txBody>
      </p:sp>
      <p:sp>
        <p:nvSpPr>
          <p:cNvPr id="38" name="Shape 36"/>
          <p:cNvSpPr/>
          <p:nvPr/>
        </p:nvSpPr>
        <p:spPr>
          <a:xfrm>
            <a:off x="5989320" y="3412998"/>
            <a:ext cx="237744" cy="0"/>
          </a:xfrm>
          <a:prstGeom prst="line">
            <a:avLst/>
          </a:prstGeom>
          <a:noFill/>
          <a:ln w="12700">
            <a:solidFill>
              <a:srgbClr val="D0E4F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834640" y="3879342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834640" y="3879342"/>
            <a:ext cx="566928" cy="749808"/>
          </a:xfrm>
          <a:prstGeom prst="rect">
            <a:avLst/>
          </a:prstGeom>
          <a:solidFill>
            <a:srgbClr val="26718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3879342"/>
            <a:ext cx="5669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</a:p>
        </p:txBody>
      </p:sp>
      <p:sp>
        <p:nvSpPr>
          <p:cNvPr id="43" name="Text 41"/>
          <p:cNvSpPr/>
          <p:nvPr/>
        </p:nvSpPr>
        <p:spPr>
          <a:xfrm>
            <a:off x="3493008" y="3879342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System Overview (Flow Chart)</a:t>
            </a:r>
          </a:p>
        </p:txBody>
      </p:sp>
      <p:sp>
        <p:nvSpPr>
          <p:cNvPr id="45" name="Shape 43"/>
          <p:cNvSpPr/>
          <p:nvPr/>
        </p:nvSpPr>
        <p:spPr>
          <a:xfrm>
            <a:off x="5989320" y="4254246"/>
            <a:ext cx="237744" cy="0"/>
          </a:xfrm>
          <a:prstGeom prst="line">
            <a:avLst/>
          </a:prstGeom>
          <a:noFill/>
          <a:ln w="12700">
            <a:solidFill>
              <a:srgbClr val="D0E4F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080760" y="514350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80760" y="514350"/>
            <a:ext cx="566928" cy="749808"/>
          </a:xfrm>
          <a:prstGeom prst="rect">
            <a:avLst/>
          </a:prstGeom>
          <a:solidFill>
            <a:srgbClr val="26718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514350"/>
            <a:ext cx="5669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</a:p>
        </p:txBody>
      </p:sp>
      <p:sp>
        <p:nvSpPr>
          <p:cNvPr id="50" name="Text 48"/>
          <p:cNvSpPr/>
          <p:nvPr/>
        </p:nvSpPr>
        <p:spPr>
          <a:xfrm>
            <a:off x="6739128" y="514350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User Case Diagram</a:t>
            </a:r>
          </a:p>
        </p:txBody>
      </p:sp>
      <p:sp>
        <p:nvSpPr>
          <p:cNvPr id="51" name="Shape 49"/>
          <p:cNvSpPr/>
          <p:nvPr/>
        </p:nvSpPr>
        <p:spPr>
          <a:xfrm>
            <a:off x="6080760" y="1355598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80760" y="1355598"/>
            <a:ext cx="566928" cy="749808"/>
          </a:xfrm>
          <a:prstGeom prst="rect">
            <a:avLst/>
          </a:prstGeom>
          <a:solidFill>
            <a:srgbClr val="26718A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1355598"/>
            <a:ext cx="5669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</a:p>
        </p:txBody>
      </p:sp>
      <p:sp>
        <p:nvSpPr>
          <p:cNvPr id="54" name="Text 52"/>
          <p:cNvSpPr/>
          <p:nvPr/>
        </p:nvSpPr>
        <p:spPr>
          <a:xfrm>
            <a:off x="6739128" y="1355598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Entity Relationship Diagram</a:t>
            </a:r>
          </a:p>
        </p:txBody>
      </p:sp>
      <p:sp>
        <p:nvSpPr>
          <p:cNvPr id="55" name="Shape 53"/>
          <p:cNvSpPr/>
          <p:nvPr/>
        </p:nvSpPr>
        <p:spPr>
          <a:xfrm>
            <a:off x="6080760" y="2196846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080760" y="2196846"/>
            <a:ext cx="56692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2196846"/>
            <a:ext cx="566928" cy="749808"/>
          </a:xfrm>
          <a:prstGeom prst="rect">
            <a:avLst/>
          </a:prstGeom>
          <a:solidFill>
            <a:srgbClr val="26718A"/>
          </a:solidFill>
          <a:ln>
            <a:solidFill>
              <a:srgbClr val="26718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</a:p>
        </p:txBody>
      </p:sp>
      <p:sp>
        <p:nvSpPr>
          <p:cNvPr id="58" name="Text 56"/>
          <p:cNvSpPr/>
          <p:nvPr/>
        </p:nvSpPr>
        <p:spPr>
          <a:xfrm>
            <a:off x="6739128" y="2196846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Tools &amp; Technologies</a:t>
            </a:r>
          </a:p>
        </p:txBody>
      </p:sp>
      <p:sp>
        <p:nvSpPr>
          <p:cNvPr id="59" name="Shape 57"/>
          <p:cNvSpPr/>
          <p:nvPr/>
        </p:nvSpPr>
        <p:spPr>
          <a:xfrm>
            <a:off x="6080760" y="3038094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80760" y="3038094"/>
            <a:ext cx="566928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80760" y="3038094"/>
            <a:ext cx="566928" cy="749808"/>
          </a:xfrm>
          <a:prstGeom prst="rect">
            <a:avLst/>
          </a:prstGeom>
          <a:solidFill>
            <a:srgbClr val="26718A"/>
          </a:solidFill>
          <a:ln>
            <a:solidFill>
              <a:srgbClr val="26718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</a:p>
        </p:txBody>
      </p:sp>
      <p:sp>
        <p:nvSpPr>
          <p:cNvPr id="62" name="Text 60"/>
          <p:cNvSpPr/>
          <p:nvPr/>
        </p:nvSpPr>
        <p:spPr>
          <a:xfrm>
            <a:off x="6739128" y="3038094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Project Timeline - Gantt Chart</a:t>
            </a:r>
          </a:p>
        </p:txBody>
      </p:sp>
      <p:sp>
        <p:nvSpPr>
          <p:cNvPr id="63" name="Shape 61"/>
          <p:cNvSpPr/>
          <p:nvPr/>
        </p:nvSpPr>
        <p:spPr>
          <a:xfrm>
            <a:off x="6080760" y="3879342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080760" y="3879342"/>
            <a:ext cx="566928" cy="749808"/>
          </a:xfrm>
          <a:prstGeom prst="rect">
            <a:avLst/>
          </a:prstGeom>
          <a:solidFill>
            <a:srgbClr val="26718A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080760" y="3879342"/>
            <a:ext cx="56692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</a:p>
        </p:txBody>
      </p:sp>
      <p:sp>
        <p:nvSpPr>
          <p:cNvPr id="66" name="Text 64"/>
          <p:cNvSpPr/>
          <p:nvPr/>
        </p:nvSpPr>
        <p:spPr>
          <a:xfrm>
            <a:off x="6739128" y="3879342"/>
            <a:ext cx="231343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Project Demonstration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3850" y="157345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56616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Box 4"/>
          <p:cNvSpPr txBox="1"/>
          <p:nvPr/>
        </p:nvSpPr>
        <p:spPr>
          <a:xfrm>
            <a:off x="3686400" y="901145"/>
            <a:ext cx="5221380" cy="3772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285750" indent="-28575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26718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The garment industry depends on sewing machines for continuous production. </a:t>
            </a:r>
          </a:p>
          <a:p>
            <a:pPr marL="285750" indent="-28575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26718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When machines break down and cannot be repaired:</a:t>
            </a:r>
          </a:p>
          <a:p>
            <a:pPr marL="568325" lvl="1" indent="-285750" algn="just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26718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No centralized system to check machine availability across stores. </a:t>
            </a:r>
          </a:p>
          <a:p>
            <a:pPr marL="568325" lvl="1" indent="-285750" algn="just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26718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Manually finding a replacement is time-consuming.</a:t>
            </a:r>
          </a:p>
          <a:p>
            <a:pPr marL="285750" indent="-28575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rgbClr val="26718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Introducing a QR code–based machine tracking system that allows technicians to scan a machine, view its details, and quickly find matching machines in nearby stores. This helps reduce downtime, transportation costs, and unnecessary new purchases.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26718A"/>
                </a:solidFill>
              </a:rPr>
              <a:t>Page | 1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B0789FB-B342-4310-85CD-70C52A640E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CC4151-8918-4F8F-A60C-D9382AF0E8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519"/>
          <a:stretch/>
        </p:blipFill>
        <p:spPr>
          <a:xfrm>
            <a:off x="502920" y="901145"/>
            <a:ext cx="2831400" cy="37417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Problem Statement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880745"/>
            <a:ext cx="7868920" cy="112141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1000" y="881380"/>
            <a:ext cx="76200" cy="1120775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218" y="10287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1. No Centralized System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1820" y="1297680"/>
            <a:ext cx="7333615" cy="680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just">
              <a:lnSpc>
                <a:spcPts val="2850"/>
              </a:lnSpc>
            </a:pPr>
            <a:r>
              <a:rPr lang="en-US" altLang="en-US" sz="1200" dirty="0">
                <a:solidFill>
                  <a:srgbClr val="26718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Manually locating a store with a matching machine is time-consuming, leading to delays in batch preparations.</a:t>
            </a:r>
          </a:p>
        </p:txBody>
      </p:sp>
      <p:sp>
        <p:nvSpPr>
          <p:cNvPr id="12" name="Shape 10"/>
          <p:cNvSpPr/>
          <p:nvPr/>
        </p:nvSpPr>
        <p:spPr>
          <a:xfrm>
            <a:off x="436880" y="3701415"/>
            <a:ext cx="7847330" cy="10528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5760" y="3709035"/>
            <a:ext cx="76200" cy="1016635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218" y="381381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1820" y="4228465"/>
            <a:ext cx="7334885" cy="5054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D5A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1000" y="2263775"/>
            <a:ext cx="7846060" cy="1176655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 flipH="1">
            <a:off x="386715" y="2267585"/>
            <a:ext cx="82550" cy="11760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218" y="2421255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2. High Cost - caused by Proximity Blindness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1820" y="2790190"/>
            <a:ext cx="7642860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just"/>
            <a:r>
              <a:rPr lang="en-US" sz="1200" dirty="0">
                <a:solidFill>
                  <a:srgbClr val="3D5A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Nearby stores with available machines can be missed, leading to unnecessary long-distance transportation. 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26718A"/>
                </a:solidFill>
              </a:rPr>
              <a:t>Page | 2</a:t>
            </a:r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BA0BABFF-6D66-731F-7843-F392744148C8}"/>
              </a:ext>
            </a:extLst>
          </p:cNvPr>
          <p:cNvSpPr/>
          <p:nvPr/>
        </p:nvSpPr>
        <p:spPr>
          <a:xfrm>
            <a:off x="591820" y="38404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2. Higher Cost - from Outside Purchasing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52E8E467-9907-D11B-BC28-B9CC6FAD6E04}"/>
              </a:ext>
            </a:extLst>
          </p:cNvPr>
          <p:cNvSpPr/>
          <p:nvPr/>
        </p:nvSpPr>
        <p:spPr>
          <a:xfrm>
            <a:off x="601218" y="4141470"/>
            <a:ext cx="7642860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just"/>
            <a:r>
              <a:rPr lang="en-US" sz="1200" dirty="0">
                <a:solidFill>
                  <a:srgbClr val="3D5A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If available and matching machines are not found, purchasing new machines from outside incurs high costs and delays.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Proposed Solution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54100"/>
            <a:ext cx="8385175" cy="6388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1A3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90625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Implement a QR-Code-based Machine Management System for Tracking Machines</a:t>
            </a:r>
          </a:p>
        </p:txBody>
      </p:sp>
      <p:sp>
        <p:nvSpPr>
          <p:cNvPr id="6" name="Text 4"/>
          <p:cNvSpPr/>
          <p:nvPr/>
        </p:nvSpPr>
        <p:spPr>
          <a:xfrm>
            <a:off x="254000" y="1828292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200" dirty="0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2487168"/>
            <a:ext cx="73152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60375" y="2834640"/>
            <a:ext cx="1463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926080"/>
            <a:ext cx="133502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Scan QR Code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615" y="3378835"/>
            <a:ext cx="1597025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5A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Technician scans the faulty machine's QR code using QR Scanner.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42032" y="22402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2402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36392" y="2487168"/>
            <a:ext cx="73152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130552" y="2834640"/>
            <a:ext cx="1463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2926080"/>
            <a:ext cx="133502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System Searches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46301" y="3376295"/>
            <a:ext cx="1483106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5A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System queries database for matching machines available in stores.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61104" y="22402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22402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55464" y="2487168"/>
            <a:ext cx="73152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849624" y="2834640"/>
            <a:ext cx="1463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13632" y="2926080"/>
            <a:ext cx="133502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Proximity Sort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65246" y="3376295"/>
            <a:ext cx="1442466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5A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Results will be sorted by distance using GPS coordinates of stores.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80176" y="22402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22402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74536" y="2487168"/>
            <a:ext cx="73152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568696" y="2834640"/>
            <a:ext cx="1463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32704" y="2926080"/>
            <a:ext cx="133502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Request Machine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43550" y="3376295"/>
            <a:ext cx="15519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5A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Technician selects a machine and sends a request to Chief Manager.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699248" y="22402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22402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87768" y="2834640"/>
            <a:ext cx="1463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51776" y="2926080"/>
            <a:ext cx="133502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CM Approval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67575" y="3376295"/>
            <a:ext cx="151257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5A7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Chief Manager reviews and approves the transfer request.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26718A"/>
                </a:solidFill>
              </a:rPr>
              <a:t>Page |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System Design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INPUT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35661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49961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Machine QR Code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" y="213969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Transfer/Purchase request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" y="277977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Machine Details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" y="341985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832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Store Details</a:t>
            </a:r>
          </a:p>
        </p:txBody>
      </p:sp>
      <p:sp>
        <p:nvSpPr>
          <p:cNvPr id="15" name="Shape 13"/>
          <p:cNvSpPr/>
          <p:nvPr/>
        </p:nvSpPr>
        <p:spPr>
          <a:xfrm>
            <a:off x="438912" y="405993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2336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Garment Details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PROCESS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1325880"/>
            <a:ext cx="2743200" cy="3566160"/>
          </a:xfrm>
          <a:prstGeom prst="rect">
            <a:avLst/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64992" y="1499616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46304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QR code decode</a:t>
            </a:r>
          </a:p>
        </p:txBody>
      </p:sp>
      <p:sp>
        <p:nvSpPr>
          <p:cNvPr id="24" name="Shape 22"/>
          <p:cNvSpPr/>
          <p:nvPr/>
        </p:nvSpPr>
        <p:spPr>
          <a:xfrm>
            <a:off x="3364992" y="2139696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1031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Searching matching machines</a:t>
            </a:r>
          </a:p>
        </p:txBody>
      </p:sp>
      <p:sp>
        <p:nvSpPr>
          <p:cNvPr id="26" name="Shape 24"/>
          <p:cNvSpPr/>
          <p:nvPr/>
        </p:nvSpPr>
        <p:spPr>
          <a:xfrm>
            <a:off x="3364992" y="2779776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274320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Distance calculation (lat/lng)</a:t>
            </a:r>
          </a:p>
        </p:txBody>
      </p:sp>
      <p:sp>
        <p:nvSpPr>
          <p:cNvPr id="28" name="Shape 26"/>
          <p:cNvSpPr/>
          <p:nvPr/>
        </p:nvSpPr>
        <p:spPr>
          <a:xfrm>
            <a:off x="3364992" y="3419856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33832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Sort by proximity</a:t>
            </a:r>
          </a:p>
        </p:txBody>
      </p:sp>
      <p:sp>
        <p:nvSpPr>
          <p:cNvPr id="30" name="Shape 28"/>
          <p:cNvSpPr/>
          <p:nvPr/>
        </p:nvSpPr>
        <p:spPr>
          <a:xfrm>
            <a:off x="3364992" y="4059936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402336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Add/edit/delete/view details of users, machines,, stores, and garments</a:t>
            </a:r>
          </a:p>
        </p:txBody>
      </p:sp>
      <p:sp>
        <p:nvSpPr>
          <p:cNvPr id="34" name="Shape 32"/>
          <p:cNvSpPr/>
          <p:nvPr/>
        </p:nvSpPr>
        <p:spPr>
          <a:xfrm>
            <a:off x="6126480" y="777240"/>
            <a:ext cx="27432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7772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OUTPUT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26480" y="1325880"/>
            <a:ext cx="2743200" cy="35661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91072" y="149961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146304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List of stores with matching machines sorted by distance</a:t>
            </a:r>
          </a:p>
        </p:txBody>
      </p:sp>
      <p:sp>
        <p:nvSpPr>
          <p:cNvPr id="39" name="Shape 37"/>
          <p:cNvSpPr/>
          <p:nvPr/>
        </p:nvSpPr>
        <p:spPr>
          <a:xfrm>
            <a:off x="6291072" y="213969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21031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Request approval/rejection status</a:t>
            </a:r>
          </a:p>
        </p:txBody>
      </p:sp>
      <p:sp>
        <p:nvSpPr>
          <p:cNvPr id="41" name="Shape 39"/>
          <p:cNvSpPr/>
          <p:nvPr/>
        </p:nvSpPr>
        <p:spPr>
          <a:xfrm>
            <a:off x="6291072" y="277977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274320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Display added/edited details of users, machines, stores, and garments</a:t>
            </a:r>
          </a:p>
        </p:txBody>
      </p:sp>
      <p:sp>
        <p:nvSpPr>
          <p:cNvPr id="43" name="Shape 41"/>
          <p:cNvSpPr/>
          <p:nvPr/>
        </p:nvSpPr>
        <p:spPr>
          <a:xfrm>
            <a:off x="6291072" y="341985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33832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Transfer/purchase history</a:t>
            </a:r>
          </a:p>
        </p:txBody>
      </p:sp>
      <p:sp>
        <p:nvSpPr>
          <p:cNvPr id="45" name="Shape 43"/>
          <p:cNvSpPr/>
          <p:nvPr/>
        </p:nvSpPr>
        <p:spPr>
          <a:xfrm>
            <a:off x="6291072" y="405993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402336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Informative notification.</a:t>
            </a:r>
          </a:p>
        </p:txBody>
      </p:sp>
      <p:sp>
        <p:nvSpPr>
          <p:cNvPr id="47" name="Text Box 46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26718A"/>
                </a:solidFill>
              </a:rPr>
              <a:t>Page | 4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B497EDC-422F-E094-63BD-C7E13149174D}"/>
              </a:ext>
            </a:extLst>
          </p:cNvPr>
          <p:cNvSpPr/>
          <p:nvPr/>
        </p:nvSpPr>
        <p:spPr>
          <a:xfrm>
            <a:off x="2880360" y="2317672"/>
            <a:ext cx="402336" cy="683297"/>
          </a:xfrm>
          <a:prstGeom prst="rightArrow">
            <a:avLst/>
          </a:prstGeom>
          <a:solidFill>
            <a:srgbClr val="1A3C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2C48EC35-1887-B031-F1A3-549D0989DD38}"/>
              </a:ext>
            </a:extLst>
          </p:cNvPr>
          <p:cNvSpPr/>
          <p:nvPr/>
        </p:nvSpPr>
        <p:spPr>
          <a:xfrm>
            <a:off x="5839836" y="2315512"/>
            <a:ext cx="402336" cy="683297"/>
          </a:xfrm>
          <a:prstGeom prst="rightArrow">
            <a:avLst/>
          </a:prstGeom>
          <a:solidFill>
            <a:srgbClr val="1A3C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6" name="Picture 5" descr="WhatsApp Image 2026-02-13 at 23.48.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3345"/>
            <a:ext cx="4131310" cy="492696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33120" y="2020570"/>
            <a:ext cx="2732405" cy="932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System Overview (Flow Chart)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6718A"/>
                </a:solidFill>
              </a:rPr>
              <a:t>Page |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688975" y="2514600"/>
            <a:ext cx="3053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Use Case Diagram</a:t>
            </a:r>
          </a:p>
        </p:txBody>
      </p:sp>
      <p:pic>
        <p:nvPicPr>
          <p:cNvPr id="7" name="Picture 6" descr="WhatsApp Image 2026-02-13 at 23.48.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755" y="73025"/>
            <a:ext cx="4841240" cy="49764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6718A"/>
                </a:solidFill>
              </a:rPr>
              <a:t>Page |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1" y="2343150"/>
            <a:ext cx="2762251" cy="70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Entity Relationship Diagram</a:t>
            </a:r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Box 5"/>
          <p:cNvSpPr txBox="1"/>
          <p:nvPr/>
        </p:nvSpPr>
        <p:spPr>
          <a:xfrm>
            <a:off x="3028315" y="26162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7" name="Picture 6" descr="WhatsApp Image 2026-02-13 at 23.48.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73025"/>
            <a:ext cx="6302375" cy="49987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6718A"/>
                </a:solidFill>
              </a:rPr>
              <a:t>Page |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Tools &amp; Technologies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58653"/>
            <a:ext cx="4114800" cy="2884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6012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Backend</a:t>
            </a:r>
          </a:p>
        </p:txBody>
      </p:sp>
      <p:sp>
        <p:nvSpPr>
          <p:cNvPr id="7" name="Text 5"/>
          <p:cNvSpPr/>
          <p:nvPr/>
        </p:nvSpPr>
        <p:spPr>
          <a:xfrm>
            <a:off x="521208" y="132588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Spring Boot (Java Framework)</a:t>
            </a:r>
          </a:p>
        </p:txBody>
      </p:sp>
      <p:sp>
        <p:nvSpPr>
          <p:cNvPr id="8" name="Text 6"/>
          <p:cNvSpPr/>
          <p:nvPr/>
        </p:nvSpPr>
        <p:spPr>
          <a:xfrm>
            <a:off x="521208" y="15727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RESTful API, business logic, security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73152" cy="1463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96012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Frontend</a:t>
            </a:r>
          </a:p>
        </p:txBody>
      </p:sp>
      <p:sp>
        <p:nvSpPr>
          <p:cNvPr id="12" name="Text 10"/>
          <p:cNvSpPr/>
          <p:nvPr/>
        </p:nvSpPr>
        <p:spPr>
          <a:xfrm>
            <a:off x="4956048" y="132588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React.js</a:t>
            </a:r>
          </a:p>
        </p:txBody>
      </p:sp>
      <p:sp>
        <p:nvSpPr>
          <p:cNvPr id="13" name="Text 11"/>
          <p:cNvSpPr/>
          <p:nvPr/>
        </p:nvSpPr>
        <p:spPr>
          <a:xfrm>
            <a:off x="4956048" y="157276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Interactive UI, QR scanner integration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147963-92A4-3D73-9217-278FC1CE570F}"/>
              </a:ext>
            </a:extLst>
          </p:cNvPr>
          <p:cNvGrpSpPr/>
          <p:nvPr/>
        </p:nvGrpSpPr>
        <p:grpSpPr>
          <a:xfrm>
            <a:off x="315468" y="3809816"/>
            <a:ext cx="4137660" cy="1075216"/>
            <a:chOff x="297180" y="3378832"/>
            <a:chExt cx="4137660" cy="1467821"/>
          </a:xfrm>
        </p:grpSpPr>
        <p:sp>
          <p:nvSpPr>
            <p:cNvPr id="14" name="Shape 12"/>
            <p:cNvSpPr/>
            <p:nvPr/>
          </p:nvSpPr>
          <p:spPr>
            <a:xfrm>
              <a:off x="320040" y="3378832"/>
              <a:ext cx="411480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E4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297180" y="3383613"/>
              <a:ext cx="73152" cy="1463040"/>
            </a:xfrm>
            <a:prstGeom prst="rect">
              <a:avLst/>
            </a:prstGeom>
            <a:solidFill>
              <a:srgbClr val="27AE60"/>
            </a:solidFill>
            <a:ln w="12700">
              <a:solidFill>
                <a:srgbClr val="27AE6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21208" y="3488687"/>
              <a:ext cx="374904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7AE60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Database</a:t>
              </a:r>
            </a:p>
          </p:txBody>
        </p:sp>
        <p:sp>
          <p:nvSpPr>
            <p:cNvPr id="17" name="Text 15"/>
            <p:cNvSpPr/>
            <p:nvPr/>
          </p:nvSpPr>
          <p:spPr>
            <a:xfrm>
              <a:off x="521208" y="3836032"/>
              <a:ext cx="3749040" cy="2560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B3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PostgreSQL</a:t>
              </a:r>
            </a:p>
          </p:txBody>
        </p:sp>
        <p:sp>
          <p:nvSpPr>
            <p:cNvPr id="18" name="Text 16"/>
            <p:cNvSpPr/>
            <p:nvPr/>
          </p:nvSpPr>
          <p:spPr>
            <a:xfrm>
              <a:off x="521208" y="4112765"/>
              <a:ext cx="3749040" cy="2560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B8CA8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Relational DB, spatial queries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9E0C9A-127C-8BA1-F5F3-E9BB64BDEBAF}"/>
              </a:ext>
            </a:extLst>
          </p:cNvPr>
          <p:cNvGrpSpPr/>
          <p:nvPr/>
        </p:nvGrpSpPr>
        <p:grpSpPr>
          <a:xfrm>
            <a:off x="4754880" y="2762250"/>
            <a:ext cx="4114800" cy="2108835"/>
            <a:chOff x="4754880" y="2762250"/>
            <a:chExt cx="4114800" cy="2108835"/>
          </a:xfrm>
        </p:grpSpPr>
        <p:sp>
          <p:nvSpPr>
            <p:cNvPr id="19" name="Shape 17"/>
            <p:cNvSpPr/>
            <p:nvPr/>
          </p:nvSpPr>
          <p:spPr>
            <a:xfrm>
              <a:off x="4754880" y="2763520"/>
              <a:ext cx="4114800" cy="210756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E4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4754880" y="2762250"/>
              <a:ext cx="76200" cy="2108835"/>
            </a:xfrm>
            <a:prstGeom prst="rect">
              <a:avLst/>
            </a:prstGeom>
            <a:solidFill>
              <a:srgbClr val="7F8C8D"/>
            </a:solidFill>
            <a:ln w="12700">
              <a:solidFill>
                <a:srgbClr val="7F8C8D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937633" y="2867025"/>
              <a:ext cx="374904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7F8C8D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DevOps &amp; Tools</a:t>
              </a:r>
            </a:p>
          </p:txBody>
        </p:sp>
        <p:sp>
          <p:nvSpPr>
            <p:cNvPr id="22" name="Text 20"/>
            <p:cNvSpPr/>
            <p:nvPr/>
          </p:nvSpPr>
          <p:spPr>
            <a:xfrm>
              <a:off x="4937633" y="3214370"/>
              <a:ext cx="3749040" cy="2560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B3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Docker</a:t>
              </a:r>
            </a:p>
          </p:txBody>
        </p:sp>
        <p:sp>
          <p:nvSpPr>
            <p:cNvPr id="23" name="Text 21"/>
            <p:cNvSpPr/>
            <p:nvPr/>
          </p:nvSpPr>
          <p:spPr>
            <a:xfrm>
              <a:off x="4956048" y="3497453"/>
              <a:ext cx="3749040" cy="2560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B8CA8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Containerization &amp; deployment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4956048" y="3780663"/>
              <a:ext cx="3749040" cy="2560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B3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Git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4937633" y="4023106"/>
              <a:ext cx="3749040" cy="2560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B8CA8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Version control &amp; collaboration</a:t>
              </a:r>
            </a:p>
          </p:txBody>
        </p:sp>
        <p:sp>
          <p:nvSpPr>
            <p:cNvPr id="26" name="Text 24"/>
            <p:cNvSpPr/>
            <p:nvPr/>
          </p:nvSpPr>
          <p:spPr>
            <a:xfrm>
              <a:off x="4956048" y="4287901"/>
              <a:ext cx="3749040" cy="2560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B3C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pgAdmin</a:t>
              </a:r>
            </a:p>
          </p:txBody>
        </p:sp>
        <p:sp>
          <p:nvSpPr>
            <p:cNvPr id="27" name="Text 25"/>
            <p:cNvSpPr/>
            <p:nvPr/>
          </p:nvSpPr>
          <p:spPr>
            <a:xfrm>
              <a:off x="4937633" y="4549394"/>
              <a:ext cx="3749040" cy="2560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B8CA8"/>
                  </a:solidFill>
                  <a:latin typeface="Times New Roman" panose="02020603050405020304" charset="0"/>
                  <a:ea typeface="Calibri" panose="020F0502020204030204" pitchFamily="34" charset="-122"/>
                  <a:cs typeface="Times New Roman" panose="02020603050405020304" charset="0"/>
                </a:rPr>
                <a:t>Database management GUI</a:t>
              </a:r>
            </a:p>
          </p:txBody>
        </p:sp>
      </p:grpSp>
      <p:sp>
        <p:nvSpPr>
          <p:cNvPr id="28" name="Text Box 27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6718A"/>
                </a:solidFill>
              </a:rPr>
              <a:t>Page | 8</a:t>
            </a: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65D9AC87-DA4A-4FA4-AAEB-F9E237780C85}"/>
              </a:ext>
            </a:extLst>
          </p:cNvPr>
          <p:cNvSpPr/>
          <p:nvPr/>
        </p:nvSpPr>
        <p:spPr>
          <a:xfrm>
            <a:off x="320040" y="2286903"/>
            <a:ext cx="73152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D6F78AFA-D26E-4303-887A-F843942578C9}"/>
              </a:ext>
            </a:extLst>
          </p:cNvPr>
          <p:cNvSpPr/>
          <p:nvPr/>
        </p:nvSpPr>
        <p:spPr>
          <a:xfrm>
            <a:off x="521208" y="1833583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MVC</a:t>
            </a: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917F2B47-77B0-4B53-9737-8087FF88CAF3}"/>
              </a:ext>
            </a:extLst>
          </p:cNvPr>
          <p:cNvSpPr/>
          <p:nvPr/>
        </p:nvSpPr>
        <p:spPr>
          <a:xfrm>
            <a:off x="521208" y="211927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Model</a:t>
            </a:r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CBD1E9B2-17F2-47C4-BC5B-C5432B9A23FE}"/>
              </a:ext>
            </a:extLst>
          </p:cNvPr>
          <p:cNvSpPr/>
          <p:nvPr/>
        </p:nvSpPr>
        <p:spPr>
          <a:xfrm>
            <a:off x="539496" y="2359913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Backend Services, Data Management</a:t>
            </a: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AFD413C1-DE33-4355-B655-59A3BBF84B4A}"/>
              </a:ext>
            </a:extLst>
          </p:cNvPr>
          <p:cNvSpPr/>
          <p:nvPr/>
        </p:nvSpPr>
        <p:spPr>
          <a:xfrm>
            <a:off x="521208" y="315546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Controller</a:t>
            </a: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B8ECC238-A97E-42AE-9049-4FFDA68DAF5E}"/>
              </a:ext>
            </a:extLst>
          </p:cNvPr>
          <p:cNvSpPr/>
          <p:nvPr/>
        </p:nvSpPr>
        <p:spPr>
          <a:xfrm>
            <a:off x="539496" y="2650383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View</a:t>
            </a: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9FAE6E68-66A8-4FE7-8FFB-6A86E38352D2}"/>
              </a:ext>
            </a:extLst>
          </p:cNvPr>
          <p:cNvSpPr/>
          <p:nvPr/>
        </p:nvSpPr>
        <p:spPr>
          <a:xfrm>
            <a:off x="537972" y="2870233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Frontend Components</a:t>
            </a: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5DE4A480-024A-45C0-A84D-D46507BDD0D1}"/>
              </a:ext>
            </a:extLst>
          </p:cNvPr>
          <p:cNvSpPr/>
          <p:nvPr/>
        </p:nvSpPr>
        <p:spPr>
          <a:xfrm>
            <a:off x="537972" y="3369437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Backend Controllers, Frontend Logic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2E4AA-C93B-80C0-2F2E-AC046817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6E081A-1588-1F13-9EC8-9B0101991BC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0D20074E-A0F8-8F2C-C3F5-ADEA6C1C5720}"/>
              </a:ext>
            </a:extLst>
          </p:cNvPr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6718A"/>
                </a:solidFill>
              </a:rPr>
              <a:t>Page | 8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191CA7B-3E0D-4D90-B7BD-B417B441D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840" y="141605"/>
            <a:ext cx="6520180" cy="4645958"/>
          </a:xfrm>
          <a:prstGeom prst="rect">
            <a:avLst/>
          </a:prstGeom>
        </p:spPr>
      </p:pic>
      <p:sp>
        <p:nvSpPr>
          <p:cNvPr id="40" name="Text 1">
            <a:extLst>
              <a:ext uri="{FF2B5EF4-FFF2-40B4-BE49-F238E27FC236}">
                <a16:creationId xmlns:a16="http://schemas.microsoft.com/office/drawing/2014/main" id="{D752A392-6804-491E-8B6B-CD3283F842FE}"/>
              </a:ext>
            </a:extLst>
          </p:cNvPr>
          <p:cNvSpPr/>
          <p:nvPr/>
        </p:nvSpPr>
        <p:spPr>
          <a:xfrm>
            <a:off x="318051" y="2163726"/>
            <a:ext cx="2762251" cy="702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Activity </a:t>
            </a:r>
            <a:b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</a:b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3478062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8D3107-88C8-43F6-BC39-8AE5D70A6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2827"/>
            <a:ext cx="9144000" cy="2617846"/>
          </a:xfrm>
          <a:prstGeom prst="rect">
            <a:avLst/>
          </a:prstGeom>
        </p:spPr>
      </p:pic>
      <p:sp>
        <p:nvSpPr>
          <p:cNvPr id="5" name="Text Box 46">
            <a:extLst>
              <a:ext uri="{FF2B5EF4-FFF2-40B4-BE49-F238E27FC236}">
                <a16:creationId xmlns:a16="http://schemas.microsoft.com/office/drawing/2014/main" id="{DC906C9D-93B2-47D7-AAC9-7B68102041FD}"/>
              </a:ext>
            </a:extLst>
          </p:cNvPr>
          <p:cNvSpPr txBox="1"/>
          <p:nvPr/>
        </p:nvSpPr>
        <p:spPr>
          <a:xfrm>
            <a:off x="7971183" y="4836297"/>
            <a:ext cx="1172817" cy="245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6718A"/>
                </a:solidFill>
              </a:rPr>
              <a:t>Page | 10</a:t>
            </a:r>
          </a:p>
        </p:txBody>
      </p:sp>
    </p:spTree>
    <p:extLst>
      <p:ext uri="{BB962C8B-B14F-4D97-AF65-F5344CB8AC3E}">
        <p14:creationId xmlns:p14="http://schemas.microsoft.com/office/powerpoint/2010/main" val="2344729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Project Timeline - Gantt Chart</a:t>
            </a:r>
          </a:p>
        </p:txBody>
      </p:sp>
      <p:sp>
        <p:nvSpPr>
          <p:cNvPr id="4" name="Text 2"/>
          <p:cNvSpPr/>
          <p:nvPr/>
        </p:nvSpPr>
        <p:spPr>
          <a:xfrm>
            <a:off x="1900440" y="775944"/>
            <a:ext cx="665839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06040" y="1078992"/>
            <a:ext cx="0" cy="3502152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3403" y="775944"/>
            <a:ext cx="665837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94314" y="1078992"/>
            <a:ext cx="0" cy="3502152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6364" y="775944"/>
            <a:ext cx="665843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2589" y="1078992"/>
            <a:ext cx="0" cy="3502152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9331" y="775944"/>
            <a:ext cx="66583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70863" y="1078992"/>
            <a:ext cx="0" cy="3502152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2293" y="775944"/>
            <a:ext cx="66583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59137" y="1078992"/>
            <a:ext cx="0" cy="3502152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5252" y="775944"/>
            <a:ext cx="665833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7411" y="1078992"/>
            <a:ext cx="0" cy="3502152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8209" y="775944"/>
            <a:ext cx="6658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35686" y="1078992"/>
            <a:ext cx="0" cy="3502152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078992"/>
            <a:ext cx="0" cy="3502152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078992"/>
            <a:ext cx="8549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124712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Requirement Analysis</a:t>
            </a:r>
          </a:p>
        </p:txBody>
      </p:sp>
      <p:sp>
        <p:nvSpPr>
          <p:cNvPr id="21" name="Shape 19"/>
          <p:cNvSpPr/>
          <p:nvPr/>
        </p:nvSpPr>
        <p:spPr>
          <a:xfrm>
            <a:off x="2146040" y="1152144"/>
            <a:ext cx="598674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463040"/>
            <a:ext cx="854964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508760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System Design</a:t>
            </a:r>
          </a:p>
        </p:txBody>
      </p:sp>
      <p:sp>
        <p:nvSpPr>
          <p:cNvPr id="24" name="Shape 22"/>
          <p:cNvSpPr/>
          <p:nvPr/>
        </p:nvSpPr>
        <p:spPr>
          <a:xfrm>
            <a:off x="2738173" y="1536192"/>
            <a:ext cx="526293" cy="21945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960" y="2569464"/>
            <a:ext cx="8549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89280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Frontend Development</a:t>
            </a:r>
          </a:p>
        </p:txBody>
      </p:sp>
      <p:sp>
        <p:nvSpPr>
          <p:cNvPr id="27" name="Shape 25"/>
          <p:cNvSpPr/>
          <p:nvPr/>
        </p:nvSpPr>
        <p:spPr>
          <a:xfrm>
            <a:off x="3280741" y="1920240"/>
            <a:ext cx="2750894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231136"/>
            <a:ext cx="854964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0040" y="2276856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Database Setup</a:t>
            </a:r>
          </a:p>
        </p:txBody>
      </p:sp>
      <p:sp>
        <p:nvSpPr>
          <p:cNvPr id="30" name="Shape 28"/>
          <p:cNvSpPr/>
          <p:nvPr/>
        </p:nvSpPr>
        <p:spPr>
          <a:xfrm>
            <a:off x="3827016" y="2304288"/>
            <a:ext cx="420768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615184"/>
            <a:ext cx="8549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660904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Backend Development</a:t>
            </a:r>
          </a:p>
        </p:txBody>
      </p:sp>
      <p:sp>
        <p:nvSpPr>
          <p:cNvPr id="33" name="Shape 31"/>
          <p:cNvSpPr/>
          <p:nvPr/>
        </p:nvSpPr>
        <p:spPr>
          <a:xfrm>
            <a:off x="4260446" y="2688336"/>
            <a:ext cx="2573383" cy="21945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999232"/>
            <a:ext cx="854964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044952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Testing &amp; QA</a:t>
            </a:r>
          </a:p>
        </p:txBody>
      </p:sp>
      <p:sp>
        <p:nvSpPr>
          <p:cNvPr id="36" name="Shape 34"/>
          <p:cNvSpPr/>
          <p:nvPr/>
        </p:nvSpPr>
        <p:spPr>
          <a:xfrm>
            <a:off x="3567591" y="3072384"/>
            <a:ext cx="3894702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376080"/>
            <a:ext cx="8549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429000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Resolving Bugs</a:t>
            </a:r>
          </a:p>
        </p:txBody>
      </p:sp>
      <p:sp>
        <p:nvSpPr>
          <p:cNvPr id="39" name="Shape 37"/>
          <p:cNvSpPr/>
          <p:nvPr/>
        </p:nvSpPr>
        <p:spPr>
          <a:xfrm>
            <a:off x="3790498" y="3456432"/>
            <a:ext cx="3540637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767328"/>
            <a:ext cx="854964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81304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Documentation</a:t>
            </a:r>
          </a:p>
        </p:txBody>
      </p:sp>
      <p:sp>
        <p:nvSpPr>
          <p:cNvPr id="42" name="Shape 40"/>
          <p:cNvSpPr/>
          <p:nvPr/>
        </p:nvSpPr>
        <p:spPr>
          <a:xfrm>
            <a:off x="2831525" y="3853675"/>
            <a:ext cx="844685" cy="199365"/>
          </a:xfrm>
          <a:prstGeom prst="rect">
            <a:avLst/>
          </a:prstGeom>
          <a:solidFill>
            <a:srgbClr val="C9C119"/>
          </a:solidFill>
          <a:ln w="12700">
            <a:solidFill>
              <a:srgbClr val="C9C11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151376"/>
            <a:ext cx="8549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197096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Final Review &amp; Presentation</a:t>
            </a:r>
          </a:p>
        </p:txBody>
      </p:sp>
      <p:sp>
        <p:nvSpPr>
          <p:cNvPr id="45" name="Shape 43"/>
          <p:cNvSpPr/>
          <p:nvPr/>
        </p:nvSpPr>
        <p:spPr>
          <a:xfrm>
            <a:off x="8010206" y="4224528"/>
            <a:ext cx="352697" cy="219456"/>
          </a:xfrm>
          <a:prstGeom prst="rect">
            <a:avLst/>
          </a:prstGeom>
          <a:solidFill>
            <a:srgbClr val="BB278A"/>
          </a:solidFill>
          <a:ln w="12700">
            <a:solidFill>
              <a:srgbClr val="BB27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581144"/>
            <a:ext cx="8549640" cy="0"/>
          </a:xfrm>
          <a:prstGeom prst="line">
            <a:avLst/>
          </a:prstGeom>
          <a:noFill/>
          <a:ln w="6350">
            <a:solidFill>
              <a:srgbClr val="D0E4F0"/>
            </a:solidFill>
            <a:prstDash val="solid"/>
          </a:ln>
        </p:spPr>
      </p:sp>
      <p:sp>
        <p:nvSpPr>
          <p:cNvPr id="47" name="Text Box 46"/>
          <p:cNvSpPr txBox="1"/>
          <p:nvPr/>
        </p:nvSpPr>
        <p:spPr>
          <a:xfrm>
            <a:off x="8199120" y="4756785"/>
            <a:ext cx="7086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6718A"/>
                </a:solidFill>
              </a:rPr>
              <a:t>Page | 11</a:t>
            </a: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0BC540D3-86A7-83DA-74F7-26F11ECDB6D7}"/>
              </a:ext>
            </a:extLst>
          </p:cNvPr>
          <p:cNvSpPr/>
          <p:nvPr/>
        </p:nvSpPr>
        <p:spPr>
          <a:xfrm>
            <a:off x="5841161" y="775944"/>
            <a:ext cx="6658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8</a:t>
            </a:r>
            <a:endParaRPr lang="en-US" sz="90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D39B3586-33BF-C74E-0E1D-44EDAA4D6302}"/>
              </a:ext>
            </a:extLst>
          </p:cNvPr>
          <p:cNvSpPr/>
          <p:nvPr/>
        </p:nvSpPr>
        <p:spPr>
          <a:xfrm>
            <a:off x="6404113" y="775944"/>
            <a:ext cx="6658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9</a:t>
            </a:r>
            <a:endParaRPr lang="en-US" sz="900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77291842-BEC8-0B96-93D6-E373D34E4B60}"/>
              </a:ext>
            </a:extLst>
          </p:cNvPr>
          <p:cNvSpPr/>
          <p:nvPr/>
        </p:nvSpPr>
        <p:spPr>
          <a:xfrm>
            <a:off x="6967065" y="775944"/>
            <a:ext cx="6658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10 </a:t>
            </a:r>
            <a:endParaRPr lang="en-US" sz="90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808281B4-FA2A-BA76-5069-40215F04EA2A}"/>
              </a:ext>
            </a:extLst>
          </p:cNvPr>
          <p:cNvSpPr/>
          <p:nvPr/>
        </p:nvSpPr>
        <p:spPr>
          <a:xfrm>
            <a:off x="7530017" y="775944"/>
            <a:ext cx="6658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11</a:t>
            </a:r>
            <a:endParaRPr lang="en-US" sz="9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C75C3B84-FAFD-7591-E983-12FF5C75C98C}"/>
              </a:ext>
            </a:extLst>
          </p:cNvPr>
          <p:cNvSpPr/>
          <p:nvPr/>
        </p:nvSpPr>
        <p:spPr>
          <a:xfrm>
            <a:off x="8092972" y="775944"/>
            <a:ext cx="6658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Wk 12</a:t>
            </a:r>
            <a:endParaRPr lang="en-US" sz="900" dirty="0"/>
          </a:p>
        </p:txBody>
      </p:sp>
      <p:sp>
        <p:nvSpPr>
          <p:cNvPr id="53" name="Shape 40">
            <a:extLst>
              <a:ext uri="{FF2B5EF4-FFF2-40B4-BE49-F238E27FC236}">
                <a16:creationId xmlns:a16="http://schemas.microsoft.com/office/drawing/2014/main" id="{826DEDAA-2577-8FEB-AA94-0EF1E3F3C9D0}"/>
              </a:ext>
            </a:extLst>
          </p:cNvPr>
          <p:cNvSpPr/>
          <p:nvPr/>
        </p:nvSpPr>
        <p:spPr>
          <a:xfrm>
            <a:off x="7272134" y="3860571"/>
            <a:ext cx="698086" cy="199365"/>
          </a:xfrm>
          <a:prstGeom prst="rect">
            <a:avLst/>
          </a:prstGeom>
          <a:solidFill>
            <a:srgbClr val="C9C119"/>
          </a:solidFill>
          <a:ln w="12700">
            <a:solidFill>
              <a:srgbClr val="C9C119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D98B9-8902-EB8C-1EFB-9DCA7861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34C195-EAB0-402C-767B-F4AD7657D65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533889-5682-5113-EA01-080ACCC11A2E}"/>
              </a:ext>
            </a:extLst>
          </p:cNvPr>
          <p:cNvSpPr/>
          <p:nvPr/>
        </p:nvSpPr>
        <p:spPr>
          <a:xfrm>
            <a:off x="2972531" y="2114550"/>
            <a:ext cx="319893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C5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Project Demonstration</a:t>
            </a:r>
          </a:p>
        </p:txBody>
      </p:sp>
      <p:sp>
        <p:nvSpPr>
          <p:cNvPr id="47" name="Text Box 46">
            <a:extLst>
              <a:ext uri="{FF2B5EF4-FFF2-40B4-BE49-F238E27FC236}">
                <a16:creationId xmlns:a16="http://schemas.microsoft.com/office/drawing/2014/main" id="{4A7F70C6-A360-D298-7285-42099393EE65}"/>
              </a:ext>
            </a:extLst>
          </p:cNvPr>
          <p:cNvSpPr txBox="1"/>
          <p:nvPr/>
        </p:nvSpPr>
        <p:spPr>
          <a:xfrm>
            <a:off x="8199120" y="4756785"/>
            <a:ext cx="708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6718A"/>
                </a:solidFill>
              </a:rPr>
              <a:t>Page | 12</a:t>
            </a:r>
          </a:p>
        </p:txBody>
      </p:sp>
    </p:spTree>
    <p:extLst>
      <p:ext uri="{BB962C8B-B14F-4D97-AF65-F5344CB8AC3E}">
        <p14:creationId xmlns:p14="http://schemas.microsoft.com/office/powerpoint/2010/main" val="3790604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2980" y="164592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Thank </a:t>
            </a: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131820" y="3062605"/>
            <a:ext cx="27432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617</Words>
  <Application>Microsoft Office PowerPoint</Application>
  <PresentationFormat>On-screen Show (16:9)</PresentationFormat>
  <Paragraphs>178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Management System - Concord Apparel</dc:title>
  <dc:subject>PptxGenJS Presentation</dc:subject>
  <dc:creator>PptxGenJS</dc:creator>
  <cp:lastModifiedBy>Tharushi Fernando</cp:lastModifiedBy>
  <cp:revision>22</cp:revision>
  <dcterms:created xsi:type="dcterms:W3CDTF">2026-02-17T19:04:00Z</dcterms:created>
  <dcterms:modified xsi:type="dcterms:W3CDTF">2026-05-10T03:52:54Z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E3E3A26DF6D74AD8A2C138BE2DE6A4DA_13</vt:lpwstr>
  </property>
</Properties>
</file>